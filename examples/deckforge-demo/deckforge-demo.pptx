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849" y="590549"/>
            <a:ext cx="247649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1">
                <a:solidFill>
                  <a:srgbClr val="2DD4BF"/>
                </a:solidFill>
                <a:latin typeface="Arial"/>
              </a:defRPr>
            </a:pPr>
            <a:r>
              <a:t>DECKFORGE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99" y="1333500"/>
            <a:ext cx="7334249" cy="1381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200" b="1">
                <a:solidFill>
                  <a:srgbClr val="F9FAFB"/>
                </a:solidFill>
                <a:latin typeface="Arial"/>
              </a:defRPr>
            </a:pPr>
            <a:r>
              <a:t>Image-first decks,</a:t>
            </a:r>
            <a:br/>
            <a:r>
              <a:t>editable by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899" y="3028950"/>
            <a:ext cx="6095999" cy="761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800" b="0">
                <a:solidFill>
                  <a:srgbClr val="CBD5E1"/>
                </a:solidFill>
                <a:latin typeface="Arial"/>
              </a:defRPr>
            </a:pPr>
            <a:r>
              <a:t>A Codex plugin workflow for turning screenshots, generated slide art, and frontend slide canvases into polished PowerPoint files with a visual QA loop.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24749" y="895350"/>
            <a:ext cx="3428999" cy="1219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29549" y="1143000"/>
            <a:ext cx="28574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1. Ask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48599" y="1562100"/>
            <a:ext cx="2724149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CCFBF1"/>
                </a:solidFill>
                <a:latin typeface="Arial"/>
              </a:defRPr>
            </a:pPr>
            <a:r>
              <a:t>Clarify intent, style, fidelity, and which screenshots stay blank.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0499" y="2476499"/>
            <a:ext cx="3428999" cy="1219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5299" y="2724150"/>
            <a:ext cx="28574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500" b="1">
                <a:solidFill>
                  <a:srgbClr val="111827"/>
                </a:solidFill>
                <a:latin typeface="Arial"/>
              </a:defRPr>
            </a:pPr>
            <a:r>
              <a:t>2. Build editable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4349" y="3143250"/>
            <a:ext cx="2724149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431407"/>
                </a:solidFill>
                <a:latin typeface="Arial"/>
              </a:defRPr>
            </a:pPr>
            <a:r>
              <a:t>Use shapes, text boxes, cards, lines, and cropped image assets.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6249" y="4057650"/>
            <a:ext cx="3428999" cy="1219200"/>
          </a:xfrm>
          <a:prstGeom prst="roundRect">
            <a:avLst/>
          </a:prstGeom>
          <a:solidFill>
            <a:srgbClr val="E5E7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01049" y="4305300"/>
            <a:ext cx="28574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500" b="1">
                <a:solidFill>
                  <a:srgbClr val="111827"/>
                </a:solidFill>
                <a:latin typeface="Arial"/>
              </a:defRPr>
            </a:pPr>
            <a:r>
              <a:t>3. Render and QA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099" y="4724399"/>
            <a:ext cx="2724149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374151"/>
                </a:solidFill>
                <a:latin typeface="Arial"/>
              </a:defRPr>
            </a:pPr>
            <a:r>
              <a:t>Export slide images, inspect layout, and fix visual defects.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3899" y="5467349"/>
            <a:ext cx="5619749" cy="4762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899" y="5676900"/>
            <a:ext cx="49529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94A3B8"/>
                </a:solidFill>
                <a:latin typeface="Arial"/>
              </a:defRPr>
            </a:pPr>
            <a:r>
              <a:t>Demo deck generated from examples/deckforge-demo/deck-schema.json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49" y="514350"/>
            <a:ext cx="9334499" cy="5333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700" b="1">
                <a:solidFill>
                  <a:srgbClr val="111827"/>
                </a:solidFill>
                <a:latin typeface="Arial"/>
              </a:defRPr>
            </a:pPr>
            <a:r>
              <a:t>Workflow: from intent to verified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4849" y="1104900"/>
            <a:ext cx="72389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0">
                <a:solidFill>
                  <a:srgbClr val="475569"/>
                </a:solidFill>
                <a:latin typeface="Arial"/>
              </a:defRPr>
            </a:pPr>
            <a:r>
              <a:t>The plugin keeps agent behavior disciplined: ask the right questions, choose the right backend, and verify the visual result.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49" y="1828800"/>
            <a:ext cx="2381249" cy="2381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49" y="2095499"/>
            <a:ext cx="457199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700" b="1">
                <a:solidFill>
                  <a:srgbClr val="0F766E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49" y="2819399"/>
            <a:ext cx="17144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499" y="3352800"/>
            <a:ext cx="1638299" cy="552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64748B"/>
                </a:solidFill>
                <a:latin typeface="Arial"/>
              </a:defRPr>
            </a:pPr>
            <a:r>
              <a:t>Audience, source images, style target, and output format.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43249" y="2990849"/>
            <a:ext cx="552449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90949" y="1828800"/>
            <a:ext cx="2381249" cy="2381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57649" y="2095499"/>
            <a:ext cx="457199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700" b="1">
                <a:solidFill>
                  <a:srgbClr val="0F766E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7649" y="2819399"/>
            <a:ext cx="17144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"/>
              </a:defRPr>
            </a:pPr>
            <a:r>
              <a:t>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9" y="3352800"/>
            <a:ext cx="1638299" cy="552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64748B"/>
                </a:solidFill>
                <a:latin typeface="Arial"/>
              </a:defRPr>
            </a:pPr>
            <a:r>
              <a:t>Use browser rendering for slide art and visual direction.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7449" y="2990849"/>
            <a:ext cx="552449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15149" y="1828800"/>
            <a:ext cx="2381249" cy="2381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81849" y="2095499"/>
            <a:ext cx="457199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700" b="1">
                <a:solidFill>
                  <a:srgbClr val="0F766E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1849" y="2819399"/>
            <a:ext cx="17144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"/>
              </a:defRPr>
            </a:pPr>
            <a:r>
              <a:t>PPTX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899" y="3352800"/>
            <a:ext cx="1638299" cy="552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64748B"/>
                </a:solidFill>
                <a:latin typeface="Arial"/>
              </a:defRPr>
            </a:pPr>
            <a:r>
              <a:t>Schema routes text, cards, lines, and image crops.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1649" y="2990849"/>
            <a:ext cx="552449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39349" y="1828800"/>
            <a:ext cx="1466849" cy="238125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06049" y="2095499"/>
            <a:ext cx="457199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700" b="1">
                <a:solidFill>
                  <a:srgbClr val="2DD4B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049" y="2819399"/>
            <a:ext cx="85724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F9FAFB"/>
                </a:solidFill>
                <a:latin typeface="Arial"/>
              </a:defRPr>
            </a:pPr>
            <a:r>
              <a:t>QA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25099" y="3352800"/>
            <a:ext cx="838199" cy="552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Arial"/>
              </a:defRPr>
            </a:pPr>
            <a:r>
              <a:t>Render images and inspect.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349" y="4895849"/>
            <a:ext cx="9810749" cy="819149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1099" y="5114925"/>
            <a:ext cx="904874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900" b="1">
                <a:solidFill>
                  <a:srgbClr val="155E75"/>
                </a:solidFill>
                <a:latin typeface="Arial"/>
              </a:defRPr>
            </a:pPr>
            <a:r>
              <a:t>Design rule: every slide needs a visible structure, readable hierarchy, and enough whitespace to survive PowerPoint editing.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49" y="514350"/>
            <a:ext cx="9334499" cy="5333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600" b="1">
                <a:solidFill>
                  <a:srgbClr val="111827"/>
                </a:solidFill>
                <a:latin typeface="Arial"/>
              </a:defRPr>
            </a:pPr>
            <a:r>
              <a:t>Editable reconstruction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4849" y="1200150"/>
            <a:ext cx="723899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0">
                <a:solidFill>
                  <a:srgbClr val="475569"/>
                </a:solidFill>
                <a:latin typeface="Arial"/>
              </a:defRPr>
            </a:pPr>
            <a:r>
              <a:t>Built from native PowerPoint text boxes, rounded rectangles, and shape bars.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849" y="1809749"/>
            <a:ext cx="4400549" cy="325755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699" y="2114550"/>
            <a:ext cx="314324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"/>
              </a:defRPr>
            </a:pPr>
            <a:r>
              <a:t>Source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8699" y="2705099"/>
            <a:ext cx="1619249" cy="838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9199" y="2876549"/>
            <a:ext cx="120014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199" y="3238500"/>
            <a:ext cx="1200149" cy="1904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CCFBF1"/>
                </a:solidFill>
                <a:latin typeface="Arial"/>
              </a:defRPr>
            </a:pPr>
            <a:r>
              <a:t>editable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14649" y="2705099"/>
            <a:ext cx="1619249" cy="838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5149" y="2876549"/>
            <a:ext cx="120014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"/>
              </a:defRPr>
            </a:pPr>
            <a:r>
              <a:t>Cards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5149" y="3238500"/>
            <a:ext cx="1200149" cy="1904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431407"/>
                </a:solidFill>
                <a:latin typeface="Arial"/>
              </a:defRPr>
            </a:pPr>
            <a:r>
              <a:t>editable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699" y="3829050"/>
            <a:ext cx="1619249" cy="838200"/>
          </a:xfrm>
          <a:prstGeom prst="roundRect">
            <a:avLst/>
          </a:prstGeom>
          <a:solidFill>
            <a:srgbClr val="E5E7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199" y="4000500"/>
            <a:ext cx="120014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"/>
              </a:defRPr>
            </a:pPr>
            <a:r>
              <a:t>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199" y="4362450"/>
            <a:ext cx="1200149" cy="1904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Arial"/>
              </a:defRPr>
            </a:pPr>
            <a:r>
              <a:t>editable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14649" y="3829050"/>
            <a:ext cx="1619249" cy="838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5149" y="4000500"/>
            <a:ext cx="120014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Images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5149" y="4362450"/>
            <a:ext cx="1200149" cy="1904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0">
                <a:solidFill>
                  <a:srgbClr val="CBD5E1"/>
                </a:solidFill>
                <a:latin typeface="Arial"/>
              </a:defRPr>
            </a:pPr>
            <a:r>
              <a:t>cropped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1699" y="1676400"/>
            <a:ext cx="4952999" cy="360045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699" y="2019299"/>
            <a:ext cx="3809999" cy="419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100" b="1">
                <a:solidFill>
                  <a:srgbClr val="F9FAFB"/>
                </a:solidFill>
                <a:latin typeface="Arial"/>
              </a:defRPr>
            </a:pPr>
            <a:r>
              <a:t>Editable objects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49" y="2819399"/>
            <a:ext cx="3314699" cy="133349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49" y="3219449"/>
            <a:ext cx="2495549" cy="133349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1749" y="3619499"/>
            <a:ext cx="3867149" cy="13334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81749" y="4019549"/>
            <a:ext cx="2933699" cy="133349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1749" y="4305300"/>
            <a:ext cx="3809999" cy="5333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CBD5E1"/>
                </a:solidFill>
                <a:latin typeface="Arial"/>
              </a:defRPr>
            </a:pPr>
            <a:r>
              <a:t>Use raster fallback only for photos, game screenshots, logos, and complex artwork that should remain visually exact.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99" y="514350"/>
            <a:ext cx="7810499" cy="5333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700" b="1">
                <a:solidFill>
                  <a:srgbClr val="F9FAFB"/>
                </a:solidFill>
                <a:latin typeface="Arial"/>
              </a:defRPr>
            </a:pPr>
            <a:r>
              <a:t>Harness-anything backend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99" y="1104900"/>
            <a:ext cx="742949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0">
                <a:solidFill>
                  <a:srgbClr val="CBD5E1"/>
                </a:solidFill>
                <a:latin typeface="Arial"/>
              </a:defRPr>
            </a:pPr>
            <a:r>
              <a:t>The skill borrows the useful harness idea: detect local capabilities, route to the best backend, and fail with actionable gaps.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799" y="1962149"/>
            <a:ext cx="2952749" cy="257175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599" y="2266950"/>
            <a:ext cx="238124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500" b="1">
                <a:solidFill>
                  <a:srgbClr val="111827"/>
                </a:solidFill>
                <a:latin typeface="Arial"/>
              </a:defRPr>
            </a:pPr>
            <a:r>
              <a:t>macOS +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9649" y="30289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334155"/>
                </a:solidFill>
                <a:latin typeface="Arial"/>
              </a:defRPr>
            </a:pPr>
            <a:r>
              <a:t>python-pptx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9649" y="33718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334155"/>
                </a:solidFill>
                <a:latin typeface="Arial"/>
              </a:defRPr>
            </a:pPr>
            <a:r>
              <a:t>LibreOffice + Poppler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649" y="37147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334155"/>
                </a:solidFill>
                <a:latin typeface="Arial"/>
              </a:defRPr>
            </a:pPr>
            <a:r>
              <a:t>Playwright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9649" y="4038599"/>
            <a:ext cx="1943099" cy="5715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24349" y="1962149"/>
            <a:ext cx="2952749" cy="257175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9149" y="2266950"/>
            <a:ext cx="238124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Arial"/>
              </a:defRPr>
            </a:pPr>
            <a:r>
              <a:t>Windows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8199" y="30289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334155"/>
                </a:solidFill>
                <a:latin typeface="Arial"/>
              </a:defRPr>
            </a:pPr>
            <a:r>
              <a:t>python-pptx + pywin32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199" y="33718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334155"/>
                </a:solidFill>
                <a:latin typeface="Arial"/>
              </a:defRPr>
            </a:pPr>
            <a:r>
              <a:t>WPS Office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199" y="37147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334155"/>
                </a:solidFill>
                <a:latin typeface="Arial"/>
              </a:defRPr>
            </a:pPr>
            <a:r>
              <a:t>Microsoft Office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8199" y="4038599"/>
            <a:ext cx="1943099" cy="5715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62899" y="1962149"/>
            <a:ext cx="2952749" cy="257175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7699" y="2266950"/>
            <a:ext cx="238124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Arial"/>
              </a:defRPr>
            </a:pPr>
            <a:r>
              <a:t>Fallbacks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49" y="30289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431407"/>
                </a:solidFill>
                <a:latin typeface="Arial"/>
              </a:defRPr>
            </a:pPr>
            <a:r>
              <a:t>Report missing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49" y="33718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431407"/>
                </a:solidFill>
                <a:latin typeface="Arial"/>
              </a:defRPr>
            </a:pPr>
            <a:r>
              <a:t>Skip unsupported paths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49" y="3714750"/>
            <a:ext cx="220979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600" b="0">
                <a:solidFill>
                  <a:srgbClr val="431407"/>
                </a:solidFill>
                <a:latin typeface="Arial"/>
              </a:defRPr>
            </a:pPr>
            <a:r>
              <a:t>Keep deck usable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86749" y="4038599"/>
            <a:ext cx="1943099" cy="5715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49" y="5353049"/>
            <a:ext cx="9334499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200" b="1">
                <a:solidFill>
                  <a:srgbClr val="F9FAFB"/>
                </a:solidFill>
                <a:latin typeface="Arial"/>
              </a:defRPr>
            </a:pPr>
            <a:r>
              <a:t>No remote shell installer is required. Users can download ZIP, enable the plugin, or ask Codex to install it safely.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49" y="514350"/>
            <a:ext cx="7238999" cy="5333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rial"/>
              </a:defRPr>
            </a:pPr>
            <a:r>
              <a:t>QA loop: render, inspect,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4849" y="1104900"/>
            <a:ext cx="685799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0">
                <a:solidFill>
                  <a:srgbClr val="475569"/>
                </a:solidFill>
                <a:latin typeface="Arial"/>
              </a:defRPr>
            </a:pPr>
            <a:r>
              <a:t>A deck is not done when the PPTX file exists. It is done when the rendered slides pass visual inspection.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2949" y="1866899"/>
            <a:ext cx="10001249" cy="3047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00149" y="2381250"/>
            <a:ext cx="1866899" cy="12573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6849" y="2686050"/>
            <a:ext cx="135254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6849" y="3143250"/>
            <a:ext cx="135254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0">
                <a:solidFill>
                  <a:srgbClr val="CBD5E1"/>
                </a:solidFill>
                <a:latin typeface="Arial"/>
              </a:defRPr>
            </a:pPr>
            <a:r>
              <a:t>editable 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7549" y="2990849"/>
            <a:ext cx="1123949" cy="47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1999" y="2381250"/>
            <a:ext cx="1866899" cy="125730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699" y="2686050"/>
            <a:ext cx="135254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155E75"/>
                </a:solidFill>
                <a:latin typeface="Arial"/>
              </a:defRPr>
            </a:pPr>
            <a:r>
              <a:t>Render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8699" y="3143250"/>
            <a:ext cx="135254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0">
                <a:solidFill>
                  <a:srgbClr val="155E75"/>
                </a:solidFill>
                <a:latin typeface="Arial"/>
              </a:defRPr>
            </a:pPr>
            <a:r>
              <a:t>slide images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399" y="2990849"/>
            <a:ext cx="1123949" cy="4762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43849" y="2381250"/>
            <a:ext cx="1866899" cy="12573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0549" y="2686050"/>
            <a:ext cx="135254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rial"/>
              </a:defRPr>
            </a:pPr>
            <a:r>
              <a:t>Inspect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549" y="3143250"/>
            <a:ext cx="135254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0">
                <a:solidFill>
                  <a:srgbClr val="431407"/>
                </a:solidFill>
                <a:latin typeface="Arial"/>
              </a:defRPr>
            </a:pPr>
            <a:r>
              <a:t>layout defects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0199" y="5372100"/>
            <a:ext cx="8039099" cy="59054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4049" y="5562600"/>
            <a:ext cx="752474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800" b="1">
                <a:solidFill>
                  <a:srgbClr val="F9FAFB"/>
                </a:solidFill>
                <a:latin typeface="Arial"/>
              </a:defRPr>
            </a:pPr>
            <a:r>
              <a:t>Final deliverable: examples/deckforge-demo/deckforge-demo.pptx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